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75000" y="394920"/>
            <a:ext cx="4064040" cy="251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5;p11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080080" y="1635840"/>
            <a:ext cx="4983120" cy="142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8000" b="0" u="none" strike="noStrike">
                <a:solidFill>
                  <a:schemeClr val="accent2"/>
                </a:solidFill>
                <a:effectLst/>
                <a:uFillTx/>
                <a:latin typeface="Poppins Black"/>
                <a:ea typeface="Poppins Black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;p13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2497320" y="1553400"/>
            <a:ext cx="528120" cy="2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2497320" y="3246120"/>
            <a:ext cx="528120" cy="2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6303960" y="1553400"/>
            <a:ext cx="595440" cy="2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6303960" y="3244320"/>
            <a:ext cx="595440" cy="2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5;p14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04360" y="1479240"/>
            <a:ext cx="4221720" cy="173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9;p15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8;p16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1;p17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6;p18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273840" y="393840"/>
            <a:ext cx="5156640" cy="179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13880" y="1485360"/>
            <a:ext cx="3474720" cy="21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01;p19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14400" y="3116160"/>
            <a:ext cx="5513400" cy="6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05;p20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3160" y="616320"/>
            <a:ext cx="7717320" cy="110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3;p3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21400" y="2652120"/>
            <a:ext cx="7031520" cy="68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187520" y="1589760"/>
            <a:ext cx="898920" cy="68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6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9;p21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20;p22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716760" y="2178720"/>
            <a:ext cx="2450520" cy="48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900" b="0" u="none" strike="noStrike">
                <a:solidFill>
                  <a:schemeClr val="accent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3357000" y="2178720"/>
            <a:ext cx="2450520" cy="4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900" b="0" u="none" strike="noStrike">
                <a:solidFill>
                  <a:schemeClr val="accent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5977800" y="2178720"/>
            <a:ext cx="2450520" cy="4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900" b="0" u="none" strike="noStrike">
                <a:solidFill>
                  <a:schemeClr val="accent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2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32;p23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39;p24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30800" y="530280"/>
            <a:ext cx="5092920" cy="157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43;p25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50;p26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151;p26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60;p27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175400" y="705600"/>
            <a:ext cx="4691160" cy="102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Google Shape;163;p27"/>
          <p:cNvSpPr/>
          <p:nvPr/>
        </p:nvSpPr>
        <p:spPr>
          <a:xfrm>
            <a:off x="1329840" y="3531240"/>
            <a:ext cx="339372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</a:rPr>
              <a:t>CREDITS: This presentation template was created by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</a:rPr>
              <a:t>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Zen Kaku Gothic New"/>
                <a:ea typeface="Zen Kaku Gothic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65;p28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accent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67;p29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lt1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8;p4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1024200" y="1255320"/>
            <a:ext cx="7095240" cy="52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22;p5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29;p6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32;p7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36;p8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475080" y="1764720"/>
            <a:ext cx="4758120" cy="192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39;p9"/>
          <p:cNvSpPr/>
          <p:nvPr/>
        </p:nvSpPr>
        <p:spPr>
          <a:xfrm>
            <a:off x="247680" y="247680"/>
            <a:ext cx="8647920" cy="46476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 w="0">
            <a:noFill/>
          </a:ln>
          <a:effectLst>
            <a:outerShdw blurRad="57240" dist="132958" dir="8218496" algn="bl" rotWithShape="0">
              <a:srgbClr val="515B7A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929040" y="673200"/>
            <a:ext cx="45014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3764160" y="3222360"/>
            <a:ext cx="4336920" cy="85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456748" y="1537854"/>
            <a:ext cx="5662015" cy="11660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IMDB Movies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Analysis of IMDB movies database using 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Dataset includes movie details, ratings, revenue, and directors.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Aim is to extract insights about movie performance and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Used SQL queries to analyze popularity, revenue, and ratings.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Helps identify successful movies and bankable directors.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Project Introduction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/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/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/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/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/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/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/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/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34D8-D564-0D8F-6EA1-EE5CAAE9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4F569D9D-C633-B429-6858-FBD4D8D4C76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Analyze the IMDB movies database using 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and explore movie and director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Identify popular and high-revenue (bankable) movies.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Determine top-performing and most productive directors.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Generate insights from data using SQL queries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D59F505A-5948-247C-CF39-BDEB3E07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Problem Statement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CB96A03C-0FEA-1D4B-4002-4E8AC8CDAAA9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496E5CA0-AF18-0243-E367-5BA57E118AE7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7FCEC571-E51C-9271-D9BF-9EB8E4C46305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20688A18-E733-C26B-777C-6AA9525791B7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251AE4E4-B8B9-6CDA-2495-12F917BE3E90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52483B71-1D6B-F93E-AE25-F90F0E37AEFB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598FEEB7-B957-D4AC-3D6C-4D9F4D1AA6BF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639127DA-BF30-2F12-B90E-2EE0E310F9C2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7183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6911-DBD6-0163-B4AC-004C81E3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FDCA1518-30E5-CC0F-D79D-F610FD3C467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Understand and explore the IMDB movies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Apply SQL queries for data retrieval and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Perform filtering, aggregation, and JOIN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Identify popular movies and revenue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Determine top directors based on productivity and earnings.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17C9B1C3-F0B4-5FD1-2A88-22599CD5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Objectives of The Project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5A774603-2591-4DFF-1ED4-5A953CBE7DFF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30D2BE73-46FB-035B-A1BD-D0F029BD0DB4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FF293A2E-ADA8-0CF2-2476-4C6C0C9A294E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C421B67B-929F-C444-12F9-68EA456560F0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3E67F8F8-8BA4-9EFC-25BA-AB188D12228F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65654A70-40D2-B12F-867A-48F1A2B70B29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9DCD098B-9C43-7BB9-1D66-E0E36D718A5A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000E31D6-1062-39C4-47D0-B89D83B1D320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6093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AC0B-710F-49A6-908B-188AD326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4624C87-9BAA-F2AE-7763-785833DCB82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Database used: IMDB Movies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Contains two tables: Movies and Directors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Movies table includes title, budget, revenue, popularity, and ratings.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Directors table includes director name, gender, and department.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Tables are linked using Director ID for analysis.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40F56C01-38D5-8B26-7B21-D9600C2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Dataset Overview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2087D49A-EEDB-2931-C939-28171EC60EEC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AAAB8147-1FC0-2855-8BBE-EEA248F614A4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E1D1BD78-2A03-AE75-CFEF-AED6D3D02F0F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CBF97C85-58A3-11FB-09F8-B3625772FBDB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4C0CBE2B-121C-09BA-BAA9-FB22642B67DD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17E68B0D-EF5D-413C-355F-108C82F67CB6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35390C66-E2D0-5454-91D5-7F4F72A2C616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62C9159B-E10A-9A10-BA72-26DB706593FB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277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3D9E0-4859-1C57-9AF2-23ABD6D8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0165464A-F786-96D2-D2F9-38D4E9788E9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MySQL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MySQL Workbench / SQL Client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SQL (Structured Query Language)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Relational Database Management System (RDBMS)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6EB65C95-DA56-BE8A-1987-8BC5962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Tools &amp; Technologies Used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8EF54EE2-9867-85D5-14F7-8C6D97EC68C7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1A58FC48-723F-A8E6-A88B-330E75066375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CB1E20AC-33B1-F4DD-FA5B-057AC6F9DF9D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54562334-E84B-C03E-65D6-688ACE68EC9D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7A50F7A8-213D-94A8-66EF-9FF54D0F6863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C1C0191C-B7A3-239F-EA67-AEDE2932D6CC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CEDEB7FA-0928-8AFF-E702-D1351C03A150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EC95DFB5-1DF3-4634-2B92-4FE30A765779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56367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422E-145A-10D6-F91D-32B525BF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8C5FCEF4-3115-CCE6-5703-8B8589F4404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62120" y="1886040"/>
            <a:ext cx="7629120" cy="232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Connected to the project movie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Loaded and validated the dataset for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Explored table structure and relationships.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Merged movies and directors tables using INNER JOIN.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Executed SQL queries to analyze popularity, revenue, and ratings.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Verified results and extracted insights for reporting.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C2FABD24-20FB-9342-0994-CC3B4026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Methodology / Workflow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4CC324FD-80F4-A73D-2DA7-BC76C1FCFD03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18E7DEE0-1023-A98F-58E0-29EBCA43C0F9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24F38AAC-11CA-86E4-1705-A311DC2CB503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455A478F-E11D-DC81-4ACC-6B5B64CECE80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32421C07-C9D5-B842-25AF-ACAACE057C0B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3FD71201-C17E-BD82-C50A-6EDC5C76C6C7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55AFBAA4-DD7C-55C8-05E1-13D936DF8CAD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64B225DF-718B-4E44-D1FA-0F153737B364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30506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BF10A-6110-DB50-D2C1-43D8A002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C0F3B21-083A-AD78-9810-0268D498B02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93047" y="1351832"/>
            <a:ext cx="5084498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all records from the movies table.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7992DC9E-E3F7-7E8B-FDB3-1E2EE4D3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Movies Table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263948D8-19F1-5D1F-61FF-E59AD1D5570D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85F449C4-821B-5BB3-5FB0-116A25096488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C40694D4-D3EF-5962-66DB-E9B152E79EBD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D846B397-9EB1-EFEE-3B5C-689486F6E7DA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209C2909-FF45-A9E1-3FEE-70F13DCD5577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748D5145-30A2-E92C-45F6-50FC2E15FF00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D385E650-30C9-58F2-96E0-468A56A7ADC1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14D8143A-6ADE-F952-CA86-34BD161D9807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74181A47-EC53-03F3-6502-69961B520456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C932C242-6584-F843-0EBA-214C6F4A82B0}"/>
              </a:ext>
            </a:extLst>
          </p:cNvPr>
          <p:cNvSpPr txBox="1">
            <a:spLocks/>
          </p:cNvSpPr>
          <p:nvPr/>
        </p:nvSpPr>
        <p:spPr>
          <a:xfrm>
            <a:off x="976347" y="2422019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F65B9-49FE-E083-F40F-1FB713FB3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865" y="2228802"/>
            <a:ext cx="2057687" cy="342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7462F5-0005-5141-D8F2-8A6B14A5A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51" y="2963797"/>
            <a:ext cx="6256089" cy="16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FBEF-C104-E509-821F-EA2A0EB4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47509E1-E9E4-2FE9-4B09-DDB6D34A91C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93047" y="1351832"/>
            <a:ext cx="5084498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all records from the directors table.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CDADA8F6-130F-98F2-3D27-0AFA8E00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Directors Table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64BACDE8-DBA5-9A68-AE6D-DA502F530447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F76B4A21-5D17-4C80-9DE5-DA78229581D3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B4E6760F-38EC-169A-9DB3-2EA45943529F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7941A039-149A-296B-27DD-48696FDF2048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5CB18F0F-BB3F-40F7-5949-76C06171FE51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E568481D-4BF4-CDBE-EDA0-015CCA71C221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0CDCFC60-2D74-FBDD-DD15-342C7ACB1EAE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B347342F-51A2-548B-2F63-675BA49106F6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667EB2D-611A-4F66-1201-D6FB09EB3678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94C65C5E-F2C6-E7B0-0ACA-B1978CDCF53C}"/>
              </a:ext>
            </a:extLst>
          </p:cNvPr>
          <p:cNvSpPr txBox="1">
            <a:spLocks/>
          </p:cNvSpPr>
          <p:nvPr/>
        </p:nvSpPr>
        <p:spPr>
          <a:xfrm>
            <a:off x="976347" y="2422019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C55DD-B592-634B-556E-7ACED3BF1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452" y="2117176"/>
            <a:ext cx="2172003" cy="304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28EC69-5295-F98E-4398-7CE4659E0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228" y="2732707"/>
            <a:ext cx="3353554" cy="193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C50D-91FF-65B2-BB5A-7048CF7A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A8BFDE46-8DFF-4EBD-780E-B3EBA7F7863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863555" y="1337169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What is the total number of movies in the database?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20A34415-9811-F091-3AEE-E0FCBF11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Total Movies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916667D2-50F8-3341-F529-669835FD805F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F7AC35D4-0989-1ED0-3C02-A55D33BA4B8F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F3CC6976-A019-771E-7FBB-BB8116D45AA0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E266BD87-E7C2-D398-EE9D-04914B6B8474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F7919634-02F7-E6BC-22EF-C8294B88C0C8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28EF143E-892A-F85B-4229-EB6FD751E78F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C337369C-4F0F-4FD2-BCB3-1304368C3648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5289449A-4BC1-E2F7-8009-6E79A41247F8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E7904AD3-98F7-BC02-FC16-235D58A84FAB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F2D4279-3CC5-B4E6-DE40-B6043AC617AE}"/>
              </a:ext>
            </a:extLst>
          </p:cNvPr>
          <p:cNvSpPr txBox="1">
            <a:spLocks/>
          </p:cNvSpPr>
          <p:nvPr/>
        </p:nvSpPr>
        <p:spPr>
          <a:xfrm>
            <a:off x="976347" y="2673916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1C15B-708A-040B-6529-9F55ED55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2" y="2193221"/>
            <a:ext cx="2546840" cy="480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C9898-2ADA-1AD4-419B-CB32B2EB7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62" y="3339330"/>
            <a:ext cx="1638529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1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03DB-77AE-81F9-1315-1879CD0D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517DB318-EE5C-9586-4F3B-61B6088A89D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504203" y="1351832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details of selected directors.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B53FD113-B657-A360-3C91-B0D0A550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Specific Directors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EB1D3371-6504-F2C5-1799-39144887B703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2EB57891-726F-8668-7399-82B79DC6F39F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FC73AE29-9291-54FC-EF25-2147047C1F04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ADDDD768-D0A9-421E-BDAF-DC2B50C4059C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CFAD1A96-6B89-76CB-9CD5-542333E8A5C6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6A62C19F-55B7-188F-28B9-0FC3F723D4D3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B4309AF8-D9A6-0FD4-E621-E9B4EEC5EF01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40148EBA-5646-18A3-2760-165B02FF6F4B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886F35C6-5398-973E-DAD2-F99471AC5830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E6F7DE25-A5F9-25FC-4738-035D26458D4C}"/>
              </a:ext>
            </a:extLst>
          </p:cNvPr>
          <p:cNvSpPr txBox="1">
            <a:spLocks/>
          </p:cNvSpPr>
          <p:nvPr/>
        </p:nvSpPr>
        <p:spPr>
          <a:xfrm>
            <a:off x="976347" y="2673916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71EB0-5D14-03BC-27F4-206A8940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94" y="2154173"/>
            <a:ext cx="4701751" cy="600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2E833-E106-E5B1-5582-7A6CFDC6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794" y="3283510"/>
            <a:ext cx="428684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6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E86B-FF74-DB71-C412-F4B53E34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91989D49-2E76-890A-5CDE-3170D9E264E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951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directors whose names start with the letter ‘S’.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908DEDC5-6D26-2D73-77C2-E16B7D54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Directors Starting with “S”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2D46E308-6C07-BF3C-30BA-2CAA35E9B39C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D3226106-6C53-0BB8-3BE8-F2B9046694D4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DA22F99F-F520-BCB8-B1D2-50B5A5BAB3C6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D9FD89B6-0702-A2EE-DDBA-033313FB7085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960282D2-05F1-7A80-8A72-6753500C4E1C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11F9DA1E-9F8E-E4B3-A935-3EA7CFAA5605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32079851-F0CA-3CBD-AE80-9588C128D1CF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7265BB35-630E-B5E5-8CB2-A898CE6383DF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D14C17F-14BF-4F42-58AA-60076E6F112E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412B697C-9C2C-CA09-B168-2A304AF2DB05}"/>
              </a:ext>
            </a:extLst>
          </p:cNvPr>
          <p:cNvSpPr txBox="1">
            <a:spLocks/>
          </p:cNvSpPr>
          <p:nvPr/>
        </p:nvSpPr>
        <p:spPr>
          <a:xfrm>
            <a:off x="976347" y="2571750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FE337-569D-8AA5-8455-D05727D85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104" y="2158915"/>
            <a:ext cx="2346797" cy="450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12C0D8-6DED-AFF7-5CA1-3EDD75CDD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104" y="2846040"/>
            <a:ext cx="3163059" cy="19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97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72FF9-EE0C-18B0-195D-33382C7B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5302A715-A3BD-9CA7-8B12-D4364FA3654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951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How many female directors are in the database?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3291979C-AF69-90D4-95B8-A1AD0C28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Female Directors Count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CE87E0BD-839F-28D3-74B9-F1D66A1730B9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76669BE2-C4C6-FE04-B755-F6453266F9EE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5417A64E-DB9C-1572-DC56-710076594BEB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ED3810B9-0635-6679-8A5C-E3A1E98BE9E7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58116ED9-31DB-F25E-7050-818A3FAB5D3A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8CA90167-291E-06B5-31AC-3488CF2678EB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DBFC40A9-6855-4AF6-3C34-DB6F265F017B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F7E7BE78-C220-52BA-61B0-CBD8DD109AF3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4DB83245-698D-80D4-637D-827BD779437E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E20FAE0C-CF45-37F6-7D60-4AE57CE5E388}"/>
              </a:ext>
            </a:extLst>
          </p:cNvPr>
          <p:cNvSpPr txBox="1">
            <a:spLocks/>
          </p:cNvSpPr>
          <p:nvPr/>
        </p:nvSpPr>
        <p:spPr>
          <a:xfrm>
            <a:off x="976347" y="2873896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237047-CBCA-97B2-DA59-E277093A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372" y="2315057"/>
            <a:ext cx="2505319" cy="5133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0AD01B-201D-02C1-9B11-DA1DF4368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72" y="3385588"/>
            <a:ext cx="2029108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55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6F76-75F1-8FDE-B98F-C68C2F07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5207C642-8BC2-B77F-293D-5953EB69217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951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Retrieve the name of the 10th female director.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65FD7F28-F02C-C387-C67F-AECB0BF90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10th Female Director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D3E4F4AF-7203-8A55-5291-81326657A848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3DAF8A55-9A59-043B-1009-B47C320B3BBB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500E86DC-4135-0605-01FC-820F7FB0C2A9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29FD746A-5A10-656E-3CE5-218C71A87A84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41642581-98B4-1554-3F38-C69DA3671306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0CBBB2ED-5114-AD9D-384E-C26BA6B7B96A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5B25ACB7-98D2-9A2C-66C4-35ECA94F954C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919496B5-5DBE-9066-A88D-577A2B39C1A8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7036C64D-53B0-AB95-F2FE-4FA0ED0219E6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AFA6D5F5-F90D-9EC7-573D-BAFDFC1E36B8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4D8F2-9814-A254-D95A-CDD7D84FB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250" y="2151752"/>
            <a:ext cx="2023390" cy="799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2CE8C-9798-D57A-1901-838489B3D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250" y="3471382"/>
            <a:ext cx="167663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7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3DEA-1A68-AB8A-6A1C-5B6C4E00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E99EDE5A-7E3E-8031-4D3C-DED1664DB7F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43917" y="1316688"/>
            <a:ext cx="5520917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Which are the top 3 most popular movies?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CA4A7FF1-4A89-BD7E-D830-08F13DFF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Most Popular Movies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4981258F-DAE8-3AE4-4148-0FC65588FF99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6D3B383C-3426-6CBF-E65B-08F7E8D68B9A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37F585BB-EF37-2A69-4FDE-AA6E4982CB47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6D8AD296-A263-0C04-9AFE-E61B3CDFBFCA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6D321AF2-B224-C5C9-1A9A-EF89AE9DC8FB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C3D13BB4-8765-34D6-5A0F-A3162C90D01E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2B506AD8-E3F2-2ABE-A70F-9AD9BD11EB74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A31049E8-2AD5-74B0-9310-824FB5760A4C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3D40219-BFB1-8529-29A0-5618447131F0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A9CAFBC9-3880-353F-4FEF-CBFB631E7E29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67D01-167E-EAA6-BD25-F0245CFD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9" y="2052565"/>
            <a:ext cx="3134162" cy="1038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B8C4B7-56A2-7C39-4AAD-C736947F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919" y="3484394"/>
            <a:ext cx="334374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63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AE8A-2D88-38C7-E8B5-6607F24F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3A710ADA-553C-89C5-A7B3-C49370D4FAE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444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Which are the top 3 highest revenue (most bankable) movies?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6077599B-56B1-0F86-DCE7-F37FD60E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619200"/>
            <a:ext cx="77148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Most Bankable Movies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73F25200-B35A-64EE-04D4-D3FCB03CBA42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FA97EFAE-F385-FAE9-D086-8D70BC2A45D3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2463B749-84B3-83BD-4143-0D48899F65FA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37337D12-0B66-936C-8AD8-612612C41249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FD6753E1-39D5-9699-5582-EA4D1763E4B0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0525D93F-F8F4-A98F-7D28-DC7D281C02D3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D932938F-FB29-BD84-0170-11D7F6A5C711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75913846-5BFE-8CC0-7FAF-22049FEBD033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8758E36E-83BA-95B4-39D2-AF9299BF9BB1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B09741C9-0878-8FC8-C934-52EE1F450BD9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68C9F-8B22-3A2A-E1E3-941235C9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64" y="2072571"/>
            <a:ext cx="2293667" cy="759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FAC79-DEF9-EBB8-ECAA-E552DA47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664" y="3433655"/>
            <a:ext cx="2867425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29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C5B5-3FA7-A3EE-6E68-E58DB350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C4B84F6C-D924-9A76-7FD7-8E900BBAA4D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444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 Semibold" panose="020B0702040204020203" pitchFamily="34" charset="0"/>
                <a:ea typeface="Zen Kaku Gothic New"/>
                <a:cs typeface="Segoe UI Semibold" panose="020B0702040204020203" pitchFamily="34" charset="0"/>
              </a:rPr>
              <a:t>Which movie released after January 1, 2000 has the highest rating?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0892C91D-44A8-58BC-904D-5507A029E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619200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Highest Rated Movie After 2000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022533D1-8EA0-3917-A43D-354372A2EE4B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D19B863F-AAC3-8411-5153-ADEBBC774FF7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F23112BD-C9A1-B843-8B2D-F826B2F9F1C8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9F13D310-ACF4-94EF-34CB-02BBDBDC614D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18828E8F-9933-6A39-09BF-C701572D4368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F6160CD9-F0B8-03DA-4588-323146651D4C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2B3F76BE-B115-B099-2237-8F60909D3E26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8135A453-7C96-EB01-B739-B65FFD305A2E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8EA3AB63-2F7F-D7C6-7B02-C9E90C6044A5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9461F4D-E467-C692-CA67-CD0A0CAD8D92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F85C3-E772-1BA1-8737-A3A2C9FF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92" y="1943013"/>
            <a:ext cx="2956026" cy="1057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7C33D-C932-7FF2-49C7-D1DCCAFF3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392" y="3455487"/>
            <a:ext cx="3419952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04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7E4F-7B2B-D63B-AEF5-FFCB76C8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02C85541-EBFE-E6B9-C77A-9E543517E86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444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Which movies were directed by Brenda Chapman?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A84B5B1F-AFF4-00C0-762A-04A7A735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527067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Movies by Brenda Chapman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8805F1CB-F5C2-C4D5-7E9D-F459D1C5D643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EB39233A-54DE-1897-9547-D4D4289584D6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ED204444-E001-2359-B961-C917D6801729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6700A445-6354-A221-7555-C24E736683B3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31CB708C-E4AA-B8F0-BB71-61A4C7BE8408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89B20834-5484-F53C-84E4-6531767FE45B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40771D7C-07F7-4011-F550-2DA4B1DF5F77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BE3427BB-069E-FD75-FB94-238FD721BBD2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22571773-744B-1980-AD1D-61964F98F58E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DC83AB9-1722-1ABC-BD45-6BB9576120BE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40721-AD21-36A1-2488-262EAECD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88" y="2047234"/>
            <a:ext cx="2910501" cy="1008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9126EE-A78D-CCBC-F779-75FE83598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88" y="3441075"/>
            <a:ext cx="2446399" cy="95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5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F298-417B-4ECF-3E46-BE61F6EC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8CFC2494-9902-6276-5314-E17313757AC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444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Which director has directed the highest number of movies?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DA9D8AB6-77C1-E026-6BA2-8BB13E0B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527067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Director with Most Movies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A75662E1-BEAB-1EC7-F7EC-FDB13C1ECA86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BAAD3CB8-0CD8-B8CC-3237-90E0299C5D4F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987D8A4A-15DC-FEF6-7C57-26354A4C80A8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2EEADE22-520C-4C75-D948-43F150F74B38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C0FAE599-B662-387B-5FA7-A58810500770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7518B048-5A43-810C-12D4-192A7642D18B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4D730A8D-801B-717E-5378-B2E435F041DC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C8C7AB6A-0D05-4A90-7B87-545903EAFE72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6A600B00-D882-5211-573B-258E3599491F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E79ED0ED-7C98-6813-8681-9DAB182FE1F3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76D16-FA50-B72D-765E-0B7481CD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86" y="1951772"/>
            <a:ext cx="2546914" cy="1162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289A6-BACC-EDA8-8786-77A823610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686" y="3468784"/>
            <a:ext cx="2546914" cy="60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3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2241-E6FA-2273-66C1-214265FC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B15C075F-3949-ED03-830E-7BD4CE1C6CF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24372" y="1357444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Which director has generated the highest total revenue?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A153F712-50B1-5E69-896F-E89136F7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527067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Most Bankable Director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1B16DDE9-3C22-7F17-0052-C40B207E0E77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4E546988-8980-EC2B-F9AD-4698C5869098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96202C7A-B38E-499F-2CA9-0BD874EF52CE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88578453-75A0-AA74-07BA-1F4B8E4347E9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104FD7B0-7192-88F4-5178-7BB86C0E2003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689FA296-4DD1-6C40-0F66-DA1D07EC2307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3E79F07F-E534-0F7C-2ECD-02C23AD9FDDF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EEE94269-B462-CDE5-27F2-8C54E6EF2D0A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34621C88-63D0-7920-5ABF-35A6AA30819A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93D55B9A-905F-EF93-FE18-CCE17B64475D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20E35-283F-2188-E60F-B5A48812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236" y="2058418"/>
            <a:ext cx="2921019" cy="1125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CF696C-2407-12E0-3AF9-FCEE2F68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236" y="3515869"/>
            <a:ext cx="2730549" cy="71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65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3B38-F569-19FB-82FB-5E33A89D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7C05CE30-2664-8E3B-C92D-72C700FD252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43917" y="1323315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Which are the top 5 highest rated movies?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A2CAEDA4-F172-49D6-FA7C-6231BE08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527067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Top Rated Movies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8B0A92C2-6DAA-9C10-A9BD-C9F88593C7C1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BEC5C414-2C05-943C-FC45-7A818DD23041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1BCD1067-A22F-FEC3-89C0-6A0566308F5B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FD43EB4A-78C9-6A06-7A04-45604F06548A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0674BC76-5D60-FB3E-A162-F01BA9EEAC8E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AEF83120-4140-4154-05B1-EE55AF402101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1C7C33E2-8CA0-5A89-C666-A7FA41D8C3FF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B5624557-E35E-E966-5DFE-9C331C855A30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C2E2BF63-C1EC-3101-80AE-11656182210E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C7E58B8-D345-338E-9542-0D0534A60FFF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C28C4-E633-BE49-365E-EE7B3D3D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92" y="2033513"/>
            <a:ext cx="3267753" cy="1000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F5014-8D03-398C-2474-C7E6F1DB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392" y="3351334"/>
            <a:ext cx="3162490" cy="112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09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43B2-86B0-7080-A537-A465B38D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B166CDDA-DFD1-A8D2-A0FB-BD7E8202BA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068283" y="1351832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How many movies were released each year?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78251A8D-E8E0-EE5B-38CD-170BC9CD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527067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Movies Released Per Year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7E50BCB1-80B8-8F22-A05B-FEA76591D0C5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EF963CFA-22FA-ECC1-9CB8-7DDCC196A32D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1C0202F7-64AB-2825-610F-44C8201507C5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AF7BFC9E-305B-4C0A-7382-698175FCF70D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330B03FB-0FB6-6656-163E-EBE5FE7968F9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9BA749FD-77F9-F298-4E71-6059A79F6CD2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D7E9BA39-7942-12C2-4C87-C035EC1F9D85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CF610995-F0D4-79F7-EF28-BF1CBCFDA391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8F8EC63B-C91A-90BF-B80C-C53A116879CF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61530DF3-C368-DEDC-8327-B2B29CDC5C85}"/>
              </a:ext>
            </a:extLst>
          </p:cNvPr>
          <p:cNvSpPr txBox="1">
            <a:spLocks/>
          </p:cNvSpPr>
          <p:nvPr/>
        </p:nvSpPr>
        <p:spPr>
          <a:xfrm>
            <a:off x="976347" y="2951374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7C150-13C8-8069-774E-9F2EC0AC5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3" y="2127391"/>
            <a:ext cx="4410269" cy="823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03A3E2-11FA-F2DF-63F6-82919F3F4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83" y="3245138"/>
            <a:ext cx="1517106" cy="15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37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0B9A-8F22-FD4B-C1CE-F23ECDA6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1D3F85CC-9695-DEE0-F81F-38EA746CD97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068283" y="1351832"/>
            <a:ext cx="5940683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/>
              <a:t>Which director has the highest average movie rating?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EE2BE1E7-3957-4381-E8B8-45F7CE4D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707166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SQL Analysis – Director with Highest Average Rating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52AED0BC-030A-3795-7C89-7ADB971DB01D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9E12152B-6E4B-5E01-EDD7-CA58536E6952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9C810413-4F5C-C41A-9996-3046D3269AFC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72991A2F-6DEC-7D85-02B1-21BD1B710182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8A99EA70-F8C2-09EC-68F8-05C21ACBB606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E8AED459-9E8B-022E-7F34-75D4947ECDEB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7A708BDC-2E9C-2844-32A6-1B431509F62B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4B31DA08-84C3-612B-574A-B98474557A97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309AC6F-B5EB-DFE6-A763-C41203B593B3}"/>
              </a:ext>
            </a:extLst>
          </p:cNvPr>
          <p:cNvSpPr txBox="1">
            <a:spLocks/>
          </p:cNvSpPr>
          <p:nvPr/>
        </p:nvSpPr>
        <p:spPr>
          <a:xfrm>
            <a:off x="1065987" y="175179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Input 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1335491-518A-7A1C-1CE2-9AF1ADFF3BBC}"/>
              </a:ext>
            </a:extLst>
          </p:cNvPr>
          <p:cNvSpPr txBox="1">
            <a:spLocks/>
          </p:cNvSpPr>
          <p:nvPr/>
        </p:nvSpPr>
        <p:spPr>
          <a:xfrm>
            <a:off x="976347" y="3195762"/>
            <a:ext cx="748025" cy="3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Output</a:t>
            </a:r>
            <a:endParaRPr lang="en-US" sz="1800" dirty="0">
              <a:solidFill>
                <a:srgbClr val="00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AB31BB-56F1-6D65-6949-F626A52B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11" y="1947737"/>
            <a:ext cx="3781761" cy="1427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977906-9A5A-8F29-186A-735D35F3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12" y="3706396"/>
            <a:ext cx="2800741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70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7804-03DC-B2D6-F730-5FB8FEC0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C3DB274C-EB6D-94A5-0631-84692950ADE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43047" y="1487925"/>
            <a:ext cx="7259273" cy="31879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Popularity and revenue do not always go hand in hand — some highly rated movies are not the highest earners.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small number of directors contribute to a large share of movie production.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High revenue movies indicate strong audience reach and commercial success.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Movies released after 2000 continue to achieve strong ratings and audience approval.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Certain directors consistently deliver higher-rated films, showing quality and audience trust.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9C3249E0-BB86-7107-6527-E9DB960C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707166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Key Insights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66080466-8B10-2BE1-23ED-410871337516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2BEDB51B-A9A6-8B61-0C7C-FA6C7C0D7350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27CC18EA-BE8D-839C-67B6-9B48F287337A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34A9763B-FD4B-1F2C-6771-6F08F0323756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1537D741-4B4E-B951-45E9-7B2EF2034110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CFB26DA0-A4D9-FE9F-5BFA-7039EC3F2A51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CB1598EC-82E4-AE81-2E2F-02F04626E408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CEBC0187-831B-D3AF-8B52-791BC7A043A4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187441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4652-94E3-768D-6EEB-27C6CC22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35A1CA2A-F4F0-93D8-023F-B8420494658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43047" y="1487925"/>
            <a:ext cx="7259273" cy="31879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helped turn raw movie data into meaningful insights.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We identified which movies are popular, which earn the most, and which directors perform best.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analysis showed how ratings, popularity, and revenue reflect audience preferences.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Using SQL made it easier to connect data and discover real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Overall, the project demonstrates how data analysis helps understand success in the film industry.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E7068589-E69E-5A95-38C3-53DA32E2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00" y="707166"/>
            <a:ext cx="8383200" cy="6623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 err="1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Conculsion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9" name="Google Shape;864;p47">
            <a:extLst>
              <a:ext uri="{FF2B5EF4-FFF2-40B4-BE49-F238E27FC236}">
                <a16:creationId xmlns:a16="http://schemas.microsoft.com/office/drawing/2014/main" id="{479D72BA-7B66-57A9-ABDE-18A146419C54}"/>
              </a:ext>
            </a:extLst>
          </p:cNvPr>
          <p:cNvSpPr/>
          <p:nvPr/>
        </p:nvSpPr>
        <p:spPr>
          <a:xfrm>
            <a:off x="8242560" y="75132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65;p47">
            <a:extLst>
              <a:ext uri="{FF2B5EF4-FFF2-40B4-BE49-F238E27FC236}">
                <a16:creationId xmlns:a16="http://schemas.microsoft.com/office/drawing/2014/main" id="{31CA77ED-5B97-4EFA-220D-2F89DE4A8956}"/>
              </a:ext>
            </a:extLst>
          </p:cNvPr>
          <p:cNvSpPr/>
          <p:nvPr/>
        </p:nvSpPr>
        <p:spPr>
          <a:xfrm>
            <a:off x="425520" y="50940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66;p47">
            <a:extLst>
              <a:ext uri="{FF2B5EF4-FFF2-40B4-BE49-F238E27FC236}">
                <a16:creationId xmlns:a16="http://schemas.microsoft.com/office/drawing/2014/main" id="{BB651253-B74D-175F-0989-8EDA7C84A38E}"/>
              </a:ext>
            </a:extLst>
          </p:cNvPr>
          <p:cNvSpPr/>
          <p:nvPr/>
        </p:nvSpPr>
        <p:spPr>
          <a:xfrm>
            <a:off x="515520" y="452808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67;p47">
            <a:extLst>
              <a:ext uri="{FF2B5EF4-FFF2-40B4-BE49-F238E27FC236}">
                <a16:creationId xmlns:a16="http://schemas.microsoft.com/office/drawing/2014/main" id="{79EF3AB1-E968-F328-318B-777BCBC5388F}"/>
              </a:ext>
            </a:extLst>
          </p:cNvPr>
          <p:cNvSpPr/>
          <p:nvPr/>
        </p:nvSpPr>
        <p:spPr>
          <a:xfrm>
            <a:off x="379800" y="4456080"/>
            <a:ext cx="90360" cy="106920"/>
          </a:xfrm>
          <a:custGeom>
            <a:avLst/>
            <a:gdLst>
              <a:gd name="textAreaLeft" fmla="*/ 0 w 90360"/>
              <a:gd name="textAreaRight" fmla="*/ 90720 w 9036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82" h="3882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68;p47">
            <a:extLst>
              <a:ext uri="{FF2B5EF4-FFF2-40B4-BE49-F238E27FC236}">
                <a16:creationId xmlns:a16="http://schemas.microsoft.com/office/drawing/2014/main" id="{8FE4293B-1D79-B183-D40B-F3C8A114BB7A}"/>
              </a:ext>
            </a:extLst>
          </p:cNvPr>
          <p:cNvSpPr/>
          <p:nvPr/>
        </p:nvSpPr>
        <p:spPr>
          <a:xfrm>
            <a:off x="8025120" y="303480"/>
            <a:ext cx="159480" cy="189360"/>
          </a:xfrm>
          <a:custGeom>
            <a:avLst/>
            <a:gdLst>
              <a:gd name="textAreaLeft" fmla="*/ 0 w 159480"/>
              <a:gd name="textAreaRight" fmla="*/ 159840 w 159480"/>
              <a:gd name="textAreaTop" fmla="*/ 0 h 189360"/>
              <a:gd name="textAreaBottom" fmla="*/ 189720 h 189360"/>
            </a:gdLst>
            <a:ahLst/>
            <a:cxnLst/>
            <a:rect l="textAreaLeft" t="textAreaTop" r="textAreaRight" b="textAreaBottom"/>
            <a:pathLst>
              <a:path w="5793" h="6877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69;p47">
            <a:extLst>
              <a:ext uri="{FF2B5EF4-FFF2-40B4-BE49-F238E27FC236}">
                <a16:creationId xmlns:a16="http://schemas.microsoft.com/office/drawing/2014/main" id="{95591E85-796B-39E4-7F8F-34FBFD5D8ED5}"/>
              </a:ext>
            </a:extLst>
          </p:cNvPr>
          <p:cNvSpPr/>
          <p:nvPr/>
        </p:nvSpPr>
        <p:spPr>
          <a:xfrm>
            <a:off x="8430840" y="44496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70;p47">
            <a:extLst>
              <a:ext uri="{FF2B5EF4-FFF2-40B4-BE49-F238E27FC236}">
                <a16:creationId xmlns:a16="http://schemas.microsoft.com/office/drawing/2014/main" id="{DE2C525E-318D-99B8-5BD6-ADCA8ABE4D78}"/>
              </a:ext>
            </a:extLst>
          </p:cNvPr>
          <p:cNvSpPr/>
          <p:nvPr/>
        </p:nvSpPr>
        <p:spPr>
          <a:xfrm>
            <a:off x="1350360" y="4395960"/>
            <a:ext cx="89640" cy="106920"/>
          </a:xfrm>
          <a:custGeom>
            <a:avLst/>
            <a:gdLst>
              <a:gd name="textAreaLeft" fmla="*/ 0 w 89640"/>
              <a:gd name="textAreaRight" fmla="*/ 90000 w 89640"/>
              <a:gd name="textAreaTop" fmla="*/ 0 h 106920"/>
              <a:gd name="textAreaBottom" fmla="*/ 107280 h 106920"/>
            </a:gdLst>
            <a:ahLst/>
            <a:cxnLst/>
            <a:rect l="textAreaLeft" t="textAreaTop" r="textAreaRight" b="textAreaBottom"/>
            <a:pathLst>
              <a:path w="3254" h="3881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71;p47">
            <a:extLst>
              <a:ext uri="{FF2B5EF4-FFF2-40B4-BE49-F238E27FC236}">
                <a16:creationId xmlns:a16="http://schemas.microsoft.com/office/drawing/2014/main" id="{BE3F220A-EC07-46F1-8E73-F5E431B0FB65}"/>
              </a:ext>
            </a:extLst>
          </p:cNvPr>
          <p:cNvSpPr/>
          <p:nvPr/>
        </p:nvSpPr>
        <p:spPr>
          <a:xfrm>
            <a:off x="8302320" y="4227120"/>
            <a:ext cx="197280" cy="235080"/>
          </a:xfrm>
          <a:custGeom>
            <a:avLst/>
            <a:gdLst>
              <a:gd name="textAreaLeft" fmla="*/ 0 w 197280"/>
              <a:gd name="textAreaRight" fmla="*/ 197640 w 197280"/>
              <a:gd name="textAreaTop" fmla="*/ 0 h 235080"/>
              <a:gd name="textAreaBottom" fmla="*/ 235440 h 235080"/>
            </a:gdLst>
            <a:ahLst/>
            <a:cxnLst/>
            <a:rect l="textAreaLeft" t="textAreaTop" r="textAreaRight" b="textAreaBottom"/>
            <a:pathLst>
              <a:path w="7163" h="8532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643893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1766-C2E0-2494-A518-EE5B719D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>
            <a:extLst>
              <a:ext uri="{FF2B5EF4-FFF2-40B4-BE49-F238E27FC236}">
                <a16:creationId xmlns:a16="http://schemas.microsoft.com/office/drawing/2014/main" id="{02F7C658-40A6-D2C1-CD9F-9D2B9014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748" y="1537854"/>
            <a:ext cx="5662015" cy="11660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1" u="none" strike="noStrike" dirty="0">
                <a:solidFill>
                  <a:schemeClr val="accent2"/>
                </a:solidFill>
                <a:effectLst/>
                <a:uFillTx/>
                <a:latin typeface="Segoe UI Semibold" panose="020B0702040204020203" pitchFamily="34" charset="0"/>
                <a:ea typeface="Poppins ExtraBold"/>
                <a:cs typeface="Segoe UI Semibold" panose="020B0702040204020203" pitchFamily="34" charset="0"/>
              </a:rPr>
              <a:t>THANK YOU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23362"/>
      </p:ext>
    </p:extLst>
  </p:cSld>
  <p:clrMapOvr>
    <a:masterClrMapping/>
  </p:clrMapOvr>
</p:sld>
</file>

<file path=ppt/theme/theme1.xml><?xml version="1.0" encoding="utf-8"?>
<a:theme xmlns:a="http://schemas.openxmlformats.org/drawingml/2006/main" name="Federal Law Enforcement Training Center by Slidesgo">
  <a:themeElements>
    <a:clrScheme name="Simple Light">
      <a:dk1>
        <a:srgbClr val="000000"/>
      </a:dk1>
      <a:lt1>
        <a:srgbClr val="FFFFFF"/>
      </a:lt1>
      <a:dk2>
        <a:srgbClr val="FFF7EA"/>
      </a:dk2>
      <a:lt2>
        <a:srgbClr val="EEEEEE"/>
      </a:lt2>
      <a:accent1>
        <a:srgbClr val="EAD2C3"/>
      </a:accent1>
      <a:accent2>
        <a:srgbClr val="0D4A80"/>
      </a:accent2>
      <a:accent3>
        <a:srgbClr val="BF7C63"/>
      </a:accent3>
      <a:accent4>
        <a:srgbClr val="C2CBE6"/>
      </a:accent4>
      <a:accent5>
        <a:srgbClr val="D9AE5F"/>
      </a:accent5>
      <a:accent6>
        <a:srgbClr val="67000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4EADF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703</Words>
  <Application>Microsoft Office PowerPoint</Application>
  <PresentationFormat>On-screen Show (16:9)</PresentationFormat>
  <Paragraphs>116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OpenSymbol</vt:lpstr>
      <vt:lpstr>Poppins</vt:lpstr>
      <vt:lpstr>Poppins Black</vt:lpstr>
      <vt:lpstr>Segoe UI Semibold</vt:lpstr>
      <vt:lpstr>Symbol</vt:lpstr>
      <vt:lpstr>Wingdings</vt:lpstr>
      <vt:lpstr>Zen Kaku Gothic New</vt:lpstr>
      <vt:lpstr>Federal Law Enforcement Training Center by Slidesgo</vt:lpstr>
      <vt:lpstr>Slidesgo Final Pages</vt:lpstr>
      <vt:lpstr>IMDB Movies</vt:lpstr>
      <vt:lpstr>Project Introduction</vt:lpstr>
      <vt:lpstr>Problem Statement</vt:lpstr>
      <vt:lpstr>Objectives of The Project</vt:lpstr>
      <vt:lpstr>Dataset Overview</vt:lpstr>
      <vt:lpstr>Tools &amp; Technologies Used</vt:lpstr>
      <vt:lpstr>Methodology / Workflow</vt:lpstr>
      <vt:lpstr>SQL Analysis – Movies Table</vt:lpstr>
      <vt:lpstr>SQL Analysis – Directors Table</vt:lpstr>
      <vt:lpstr>SQL Analysis – Total Movies</vt:lpstr>
      <vt:lpstr>SQL Analysis – Specific Directors</vt:lpstr>
      <vt:lpstr>SQL Analysis – Directors Starting with “S”</vt:lpstr>
      <vt:lpstr>SQL Analysis – Female Directors Count</vt:lpstr>
      <vt:lpstr>SQL Analysis – 10th Female Director</vt:lpstr>
      <vt:lpstr>SQL Analysis – Most Popular Movies</vt:lpstr>
      <vt:lpstr>SQL Analysis – Most Bankable Movies</vt:lpstr>
      <vt:lpstr>SQL Analysis – Highest Rated Movie After 2000</vt:lpstr>
      <vt:lpstr>SQL Analysis – Movies by Brenda Chapman</vt:lpstr>
      <vt:lpstr>SQL Analysis – Director with Most Movies</vt:lpstr>
      <vt:lpstr>SQL Analysis – Most Bankable Director</vt:lpstr>
      <vt:lpstr>SQL Analysis – Top Rated Movies</vt:lpstr>
      <vt:lpstr>SQL Analysis – Movies Released Per Year</vt:lpstr>
      <vt:lpstr>SQL Analysis – Director with Highest Average Rating</vt:lpstr>
      <vt:lpstr>Key Insights</vt:lpstr>
      <vt:lpstr>Conculsion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</dc:creator>
  <cp:lastModifiedBy>Krishna Singh</cp:lastModifiedBy>
  <cp:revision>50</cp:revision>
  <dcterms:modified xsi:type="dcterms:W3CDTF">2026-02-19T10:08:06Z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2026-02-17T10:58:32Z</dcterms:created>
  <dc:creator>Unknown Creator</dc:creator>
  <dc:description/>
  <dc:language>en-US</dc:language>
  <cp:lastModifiedBy>Unknown Creator</cp:lastModifiedBy>
  <dcterms:modified xsi:type="dcterms:W3CDTF">2026-02-17T10:58:32Z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